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828800"/>
            <a:ext cx="91440" cy="3200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600" b="1">
                <a:solidFill>
                  <a:srgbClr val="0EA5E9"/>
                </a:solidFill>
                <a:latin typeface="Segoe UI"/>
              </a:defRPr>
            </a:pPr>
            <a:r>
              <a:t>KINESIO-VISION</a:t>
            </a:r>
          </a:p>
          <a:p>
            <a:pPr>
              <a:spcAft>
                <a:spcPts val="2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Yapay Zeka Destekli Egzersiz Analizi ve Sınıflandırma Sistemi</a:t>
            </a:r>
          </a:p>
          <a:p>
            <a:pPr>
              <a:defRPr sz="1400">
                <a:solidFill>
                  <a:srgbClr val="E2E8F0"/>
                </a:solidFill>
                <a:latin typeface="Segoe UI"/>
              </a:defRPr>
            </a:pPr>
            <a:r>
              <a:t>Teknik Altyapı, Model Mimarisi ve Kod Yapısı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Geliştirici Sunumu  |  PyTorch - MediaPipe - OpenCV -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Proje Nedir ve Ne İşe Yarar?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Segoe UI"/>
              </a:defRPr>
            </a:pPr>
            <a:r>
              <a:t>Çözülen Problemler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Yanlış Duruş ve Egzersiz Formları: Egzersiz yaparken duruş bozuklukları sakatlanma riskini artırır.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Bireysel Takip Zorluğu: Evde veya spor salonunda antrenör desteği olmadan doğru form analizi zordur.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Nicel Veri Eksikliği: Egzersiz hareketlerinin otomatik olarak tanınması ve takibinde standartlaştırılmış veri ihtiyacı.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1112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Kinesio-Vision Çözümü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✓  Otomatik Egzersiz Sınıflandırma: 9 farklı egzersizi (şınav, barfiks, dips, squat, plank vb.) yapay zeka ile otomatik algılar.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✓  Gerçek Zamanlı İskelet Analizi: MediaPipe Pose modeli ile insan vücudundaki 33 kritik eklem noktasını gerçek zamanlı izler.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✓  Web Tabanlı Kullanıcı Deneyimi: Video yükleme, arka planda asenkron işleme ve sonuç videosunu anında tarayıcıda izleme imkanı.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Teknik Altyapı ve Sistem Akışı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1081735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Kullanılan Teknolojiler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• Görüntü İşleme: OpenCV  |  • İskelet Çıkarımı: Google MediaPipe Pose  |  • Derin Öğrenme: PyTorch</a:t>
            </a:r>
            <a:br/>
            <a:r>
              <a:t>• Veri Analizi: Pandas, NumPy, Scikit-learn  |  • Web Uygulaması: Flask API &amp; Multithreading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2468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Adım 1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Görüntü Yakalama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Video dosyaları OpenCV yardımıyla kare kare (frame) okunur, RGB renk uzayına dönüştürülür ve optimize edilerek işlenmeye hazır hale getirilir.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2926080"/>
            <a:ext cx="2468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2736" y="3063240"/>
            <a:ext cx="21945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Adım 2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Eklem Tespiti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Google MediaPipe Pose çözümü ile her kareden insan vücuduna ait 33 adet 3B eklem noktası (X, Y, Z koordinatları) ve görünürlük (visibility) skorları çıkarılır.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926080"/>
            <a:ext cx="2468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3063240"/>
            <a:ext cx="21945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Adım 3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Öznitelik Vektörü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Elde edilen 33 nokta x 4 değer (x,y,z,visibility) birleştirilerek 132 boyutlu yapılandırılmış bir öznitelik matrisi / vektörü oluşturulur.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2926080"/>
            <a:ext cx="2468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62288" y="3063240"/>
            <a:ext cx="21945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Adım 4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Sınıflandırma &amp; Çıktı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PyTorch KinesioNet modeli 132 boyutlu vektörü sınıflandırır (9 egzersizden biri). OpenCV sınıf etiketini ve iskelet çizimini video karesine yazıp WebM olarak çıktı verir.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Veri Kümesi ve Öznitelik Mühendisliği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Segoe UI"/>
              </a:defRPr>
            </a:pPr>
            <a:r>
              <a:t>Veri Kümesi (imagePoses.csv)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Dosya Boyutu: 44.9 MB boyutunda yapılandırılmış CSV veri kümesi.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Hedef Sınıflar (9 Egzersiz):</a:t>
            </a:r>
            <a:br/>
            <a:r>
              <a:t>- Şınav (pushup), Barfiks (pullup), Dips (chest dips)</a:t>
            </a:r>
            <a:br/>
            <a:r>
              <a:t>- Bent over row, Shoulder press, Squat</a:t>
            </a:r>
            <a:br/>
            <a:r>
              <a:t>- Lunges, Plank, Glute bridge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Veri Temizleme: Eksik, hatalı formatlı veya 132 öznitelikten daha az bilgi barındıran satırlar KinesioDataset sınıfı tarafından eğitimden önce elenir (re &amp; ast.literal_eval).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1112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Girdi Matrisi ve Matematiksel Boyut</a:t>
            </a:r>
          </a:p>
          <a:p>
            <a:pPr>
              <a:defRPr sz="1400" b="1">
                <a:solidFill>
                  <a:srgbClr val="1E293B"/>
                </a:solidFill>
                <a:latin typeface="Segoe UI"/>
              </a:defRPr>
            </a:pPr>
            <a:r>
              <a:t>Boyut Formülü:</a:t>
            </a:r>
          </a:p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  <a:latin typeface="Consolas"/>
              </a:defRPr>
            </a:pPr>
            <a:r>
              <a:t>33 Eklem Noktası x 4 Değer (X, Y, Z, Visibility) = 132 Boyut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X, Y: Eklem noktasının piksel cinsinden normalize edilmiş yatay ve dikey koordinatları (0 ile 1 arası).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Z: Kameraya olan derinlik bilgisi (kestirimsel orta nokta bazlı derinlik).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Visibility (Görünürlük): Eklemin kıyafet veya başka bir uzuv arkasında kalıp kalmadığını belirten güven skoru.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Yapay Sinir Ağı Mimarisi (KinesioNet)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Segoe UI"/>
              </a:defRPr>
            </a:pPr>
            <a:r>
              <a:t>Model Katmanları (Sequential)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→  Girdi Katmanı: 132 Özellik (33 Pose Keypoints)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→  Fully Connected 1 (Linear): 132 -&gt; 256 Nöron</a:t>
            </a:r>
            <a:br/>
            <a:r>
              <a:t>- Aktivasyon: ReLU (Düzleştirilmiş Doğrusal Birim)</a:t>
            </a:r>
            <a:br/>
            <a:r>
              <a:t>- Düzenlileştirme: Dropout (p = 0.3) %30 sönümleme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→  Fully Connected 2 (Linear): 256 -&gt; 128 Nöron</a:t>
            </a:r>
            <a:br/>
            <a:r>
              <a:t>- Aktivasyon: ReLU</a:t>
            </a:r>
            <a:br/>
            <a:r>
              <a:t>- Düzenlileştirme: Dropout (p = 0.3)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→  Çıktı Katmanı (Linear): 128 -&gt; 9 Nöron (Egzersiz Sınıfları)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1112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Matematiksel Alt Yapı ve Kararlar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ReLU Aktivasyon Fonksiyonu: f(x) = max(0, x) formülüyle matris çarpımlarından kaynaklanan doğrusal sınırları kaldırarak karmaşık eklem açılarını öğrenmeyi sağlar.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Dropout Düzenlileştirmesi: Her eğitim adımında rastgele %30 nöronu pasif hale getirerek aşırı öğrenmeyi (overfitting) engeller.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Cross-Entropy Loss (Çapraz Entropi Kayıp Fonksiyonu): Çok sınıflı sınıflandırma başarısını optimize etmek için kullanılan temel metrik.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Adam Optimizasyon Algoritması: Dinamik öğrenme oranı kullanarak modelin yerel minimumlara takılmasını önler.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Model Eğitimi ve Başarı Sonuçları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Segoe UI"/>
              </a:defRPr>
            </a:pPr>
            <a:r>
              <a:t>Eğitim Parametreleri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Öğrenme Oranı (Learning Rate): 0.001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Epoch Sayısı: 150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Batch Boyutu (Yığın Boyutu): 64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Eğitim / Test Bölünmesi: %80 Eğitim, %20 Test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Donanım Desteği: CUDA (GPU) varsa CUDA, yoksa CPU otomatik seçimi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Model Kaydı: En iyi ağırlıklar 'kinesio_multiclass_model.pth' olarak kaydedilmiştir.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1112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Eğitim Doğruluk (Accuracy) Eğrisi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Consolas"/>
              </a:defRPr>
            </a:pPr>
            <a:r>
              <a:t>📈  Epoch 20:   Doğruluk: %58.29  |  Kayıp: 1.0662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Consolas"/>
              </a:defRPr>
            </a:pPr>
            <a:r>
              <a:t>📈  Epoch 50:   Doğruluk: %70.55  |  Kayıp: 0.7901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Consolas"/>
              </a:defRPr>
            </a:pPr>
            <a:r>
              <a:t>📈  Epoch 80:   Doğruluk: %75.43  |  Kayıp: 0.6476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Consolas"/>
              </a:defRPr>
            </a:pPr>
            <a:r>
              <a:t>📈  Epoch 120:  Doğruluk: %79.02  |  Kayıp: 0.5424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Consolas"/>
              </a:defRPr>
            </a:pPr>
            <a:r>
              <a:t>📈  Epoch 150:  Doğruluk: %81.82  |  Kayıp: 0.4784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Özet: Eğitim boyunca kayıp (Loss) istikrarlı bir şekilde düşerken doğruluk (Accuracy) oranı %81.82 seviyesine ulaşmıştır. Model ezberlemeden (overfitting) genelleme yeteneği kazanmıştır.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Flask Web Arayüzü ve Entegrasyon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Segoe UI"/>
              </a:defRPr>
            </a:pPr>
            <a:r>
              <a:t>API ve Flask Mimarisi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Asenkron İş Parçacıkları (Multithreading): Video işleme ağır bir görev olduğu için Flask ana thread'ini tıkamamak amacıyla 'threading.Thread' ile arka planda çalıştırılır.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İlerleme Takibi (Progress Tracking): Web arayüzü her saniye '/status/&lt;job_id&gt;' uç noktasını sorgulayarak videonun işlenme yüzdesini dinamik olarak çeker.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Web Uyumluluğu: Çıktı videoları VP8 codec kullanılarak WebM formatında kaydedilir ve modern web tarayıcılarında herhangi bir eklenti olmadan doğrudan oynatılabilir.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1112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Endpoints &amp; Yönlendirmeler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🔗  GET  '/' : Kullanıcıyı karşılayan, video yükleme alanını barındıran ana sayfa (index.html).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🔗  POST '/upload' : Dosyayı sunucuya kaydeder, asenkron işleme thread'ini başlatır ve benzersiz bir 'job_id' döner.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🔗  GET  '/status/&lt;job_id&gt;' : İşlemin tamamlanma durumunu ve yüzdesini döndürür.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🔗  GET  '/video/&lt;job_id&gt;' : İşlemi biten WebM formatındaki videoyu tarayıcıya aktarır.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Sonuç ve Gelecek Çalışmalar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35291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Elde </a:t>
            </a:r>
            <a:r>
              <a:rPr dirty="0" err="1"/>
              <a:t>Edilen</a:t>
            </a:r>
            <a:r>
              <a:rPr dirty="0"/>
              <a:t> </a:t>
            </a:r>
            <a:r>
              <a:rPr dirty="0" err="1"/>
              <a:t>Sonuçlar</a:t>
            </a:r>
            <a:endParaRPr dirty="0"/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✓  </a:t>
            </a:r>
            <a:r>
              <a:rPr dirty="0" err="1"/>
              <a:t>Hafif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Hızlı</a:t>
            </a:r>
            <a:r>
              <a:rPr dirty="0"/>
              <a:t> Model: </a:t>
            </a:r>
            <a:r>
              <a:rPr dirty="0" err="1"/>
              <a:t>PyTorch</a:t>
            </a:r>
            <a:r>
              <a:rPr dirty="0"/>
              <a:t> </a:t>
            </a:r>
            <a:r>
              <a:rPr dirty="0" err="1"/>
              <a:t>tabanlı</a:t>
            </a:r>
            <a:r>
              <a:rPr dirty="0"/>
              <a:t>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katmanlı</a:t>
            </a:r>
            <a:r>
              <a:rPr dirty="0"/>
              <a:t> </a:t>
            </a:r>
            <a:r>
              <a:rPr dirty="0" err="1"/>
              <a:t>yapay</a:t>
            </a:r>
            <a:r>
              <a:rPr dirty="0"/>
              <a:t> </a:t>
            </a:r>
            <a:r>
              <a:rPr dirty="0" err="1"/>
              <a:t>sinir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, </a:t>
            </a:r>
            <a:r>
              <a:rPr dirty="0" err="1"/>
              <a:t>büyük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hantal</a:t>
            </a:r>
            <a:r>
              <a:rPr dirty="0"/>
              <a:t> CNN </a:t>
            </a:r>
            <a:r>
              <a:rPr dirty="0" err="1"/>
              <a:t>modelleri</a:t>
            </a:r>
            <a:r>
              <a:rPr dirty="0"/>
              <a:t> </a:t>
            </a:r>
            <a:r>
              <a:rPr dirty="0" err="1"/>
              <a:t>yerine</a:t>
            </a:r>
            <a:r>
              <a:rPr dirty="0"/>
              <a:t> </a:t>
            </a:r>
            <a:r>
              <a:rPr dirty="0" err="1"/>
              <a:t>sadece</a:t>
            </a:r>
            <a:r>
              <a:rPr dirty="0"/>
              <a:t> </a:t>
            </a:r>
            <a:r>
              <a:rPr dirty="0" err="1"/>
              <a:t>koordinatlar</a:t>
            </a:r>
            <a:r>
              <a:rPr dirty="0"/>
              <a:t> </a:t>
            </a:r>
            <a:r>
              <a:rPr dirty="0" err="1"/>
              <a:t>üzerinden</a:t>
            </a:r>
            <a:r>
              <a:rPr dirty="0"/>
              <a:t> </a:t>
            </a:r>
            <a:r>
              <a:rPr dirty="0" err="1"/>
              <a:t>çalıştığı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CPU </a:t>
            </a:r>
            <a:r>
              <a:rPr dirty="0" err="1"/>
              <a:t>üzerinde</a:t>
            </a:r>
            <a:r>
              <a:rPr dirty="0"/>
              <a:t> </a:t>
            </a:r>
            <a:r>
              <a:rPr dirty="0" err="1"/>
              <a:t>dahi</a:t>
            </a:r>
            <a:r>
              <a:rPr dirty="0"/>
              <a:t> </a:t>
            </a:r>
            <a:r>
              <a:rPr dirty="0" err="1"/>
              <a:t>gerçek</a:t>
            </a:r>
            <a:r>
              <a:rPr dirty="0"/>
              <a:t> </a:t>
            </a:r>
            <a:r>
              <a:rPr dirty="0" err="1"/>
              <a:t>zamanlı</a:t>
            </a:r>
            <a:r>
              <a:rPr dirty="0"/>
              <a:t> </a:t>
            </a:r>
            <a:r>
              <a:rPr dirty="0" err="1"/>
              <a:t>çıkarım</a:t>
            </a:r>
            <a:r>
              <a:rPr dirty="0"/>
              <a:t> </a:t>
            </a:r>
            <a:r>
              <a:rPr dirty="0" err="1"/>
              <a:t>yapabilmektedir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✓  Yüksek </a:t>
            </a:r>
            <a:r>
              <a:rPr dirty="0" err="1"/>
              <a:t>Sınıflandırma</a:t>
            </a:r>
            <a:r>
              <a:rPr dirty="0"/>
              <a:t> </a:t>
            </a:r>
            <a:r>
              <a:rPr dirty="0" err="1"/>
              <a:t>Başarısı</a:t>
            </a:r>
            <a:r>
              <a:rPr dirty="0"/>
              <a:t>: 9 </a:t>
            </a:r>
            <a:r>
              <a:rPr dirty="0" err="1"/>
              <a:t>farklı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birbirine</a:t>
            </a:r>
            <a:r>
              <a:rPr dirty="0"/>
              <a:t> </a:t>
            </a:r>
            <a:r>
              <a:rPr dirty="0" err="1"/>
              <a:t>benzeyen</a:t>
            </a:r>
            <a:r>
              <a:rPr dirty="0"/>
              <a:t> </a:t>
            </a:r>
            <a:r>
              <a:rPr dirty="0" err="1"/>
              <a:t>spor</a:t>
            </a:r>
            <a:r>
              <a:rPr dirty="0"/>
              <a:t> </a:t>
            </a:r>
            <a:r>
              <a:rPr dirty="0" err="1"/>
              <a:t>hareketi</a:t>
            </a:r>
            <a:r>
              <a:rPr dirty="0"/>
              <a:t> (</a:t>
            </a:r>
            <a:r>
              <a:rPr dirty="0" err="1"/>
              <a:t>örn</a:t>
            </a:r>
            <a:r>
              <a:rPr dirty="0"/>
              <a:t>: squat </a:t>
            </a:r>
            <a:r>
              <a:rPr dirty="0" err="1"/>
              <a:t>ve</a:t>
            </a:r>
            <a:r>
              <a:rPr dirty="0"/>
              <a:t> lunge) </a:t>
            </a:r>
            <a:r>
              <a:rPr dirty="0" err="1"/>
              <a:t>arasındaki</a:t>
            </a:r>
            <a:r>
              <a:rPr dirty="0"/>
              <a:t> </a:t>
            </a:r>
            <a:r>
              <a:rPr dirty="0" err="1"/>
              <a:t>farkları</a:t>
            </a:r>
            <a:r>
              <a:rPr dirty="0"/>
              <a:t> %81.82 </a:t>
            </a:r>
            <a:r>
              <a:rPr dirty="0" err="1"/>
              <a:t>doğrulukla</a:t>
            </a:r>
            <a:r>
              <a:rPr dirty="0"/>
              <a:t> </a:t>
            </a:r>
            <a:r>
              <a:rPr dirty="0" err="1"/>
              <a:t>ayırt</a:t>
            </a:r>
            <a:r>
              <a:rPr dirty="0"/>
              <a:t> </a:t>
            </a:r>
            <a:r>
              <a:rPr dirty="0" err="1"/>
              <a:t>edebilmektedir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✓  End-to-End </a:t>
            </a:r>
            <a:r>
              <a:rPr dirty="0" err="1"/>
              <a:t>Entegrasyon</a:t>
            </a:r>
            <a:r>
              <a:rPr dirty="0"/>
              <a:t>: Veri </a:t>
            </a:r>
            <a:r>
              <a:rPr dirty="0" err="1"/>
              <a:t>ön</a:t>
            </a:r>
            <a:r>
              <a:rPr dirty="0"/>
              <a:t> </a:t>
            </a:r>
            <a:r>
              <a:rPr dirty="0" err="1"/>
              <a:t>işlemeden</a:t>
            </a:r>
            <a:r>
              <a:rPr dirty="0"/>
              <a:t> web </a:t>
            </a:r>
            <a:r>
              <a:rPr dirty="0" err="1"/>
              <a:t>sunumuna</a:t>
            </a:r>
            <a:r>
              <a:rPr dirty="0"/>
              <a:t> </a:t>
            </a:r>
            <a:r>
              <a:rPr dirty="0" err="1"/>
              <a:t>kadar</a:t>
            </a:r>
            <a:r>
              <a:rPr dirty="0"/>
              <a:t> tam </a:t>
            </a:r>
            <a:r>
              <a:rPr dirty="0" err="1"/>
              <a:t>entegre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yapay</a:t>
            </a:r>
            <a:r>
              <a:rPr dirty="0"/>
              <a:t> </a:t>
            </a:r>
            <a:r>
              <a:rPr dirty="0" err="1"/>
              <a:t>zeka</a:t>
            </a:r>
            <a:r>
              <a:rPr dirty="0"/>
              <a:t> </a:t>
            </a:r>
            <a:r>
              <a:rPr dirty="0" err="1"/>
              <a:t>ürünü</a:t>
            </a:r>
            <a:r>
              <a:rPr dirty="0"/>
              <a:t> </a:t>
            </a:r>
            <a:r>
              <a:rPr dirty="0" err="1"/>
              <a:t>ortaya</a:t>
            </a:r>
            <a:r>
              <a:rPr dirty="0"/>
              <a:t> </a:t>
            </a:r>
            <a:r>
              <a:rPr dirty="0" err="1"/>
              <a:t>konmuştur</a:t>
            </a:r>
            <a:r>
              <a:rPr dirty="0"/>
              <a:t>.</a:t>
            </a:r>
            <a:endParaRPr lang="tr-TR" dirty="0"/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 lang="tr-TR" dirty="0"/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 lang="tr-TR" dirty="0"/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lang="tr-TR" dirty="0"/>
              <a:t>Mehmet Alperen Ataner 02210224023 – YMG4 dersi için hazırlanmıştır.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1112" y="16459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Gelecek Çalışmalar ve Yol Haritası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🚀  Açısal Postür Analizi: Eklem koordinatları arasındaki trigonometrik açılar (örneğin diz ve dirsek açıları) hesaplanarak, formun 'doğru' veya 'yanlış' olduğu uyarısı eklenecektir.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🚀  Tekrar Sayacı (Repetition Counter): Hareketin tepe ve dip noktaları tespit edilerek kaç tekrar yapıldığı otomatik sayılacaktır.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🚀  Kamera Desteği: Sadece video yükleme değil, doğrudan bilgisayar web kamerası üzerinden canlı analiz yapılabilmesi sağlanacaktır.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🚀  Mobil Entegrasyon: React Native veya Flutter tabanlı mobil arayüz geliştirilecektir.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1204</Words>
  <Application>Microsoft Office PowerPoint</Application>
  <PresentationFormat>Özel</PresentationFormat>
  <Paragraphs>88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Atakan ATANER</cp:lastModifiedBy>
  <cp:revision>2</cp:revision>
  <dcterms:created xsi:type="dcterms:W3CDTF">2013-01-27T09:14:16Z</dcterms:created>
  <dcterms:modified xsi:type="dcterms:W3CDTF">2026-06-17T11:20:50Z</dcterms:modified>
  <cp:category/>
</cp:coreProperties>
</file>